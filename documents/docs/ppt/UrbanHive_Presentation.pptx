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0997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74320"/>
            <a:ext cx="45720" cy="4572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685800"/>
            <a:ext cx="45720" cy="4572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1097280"/>
            <a:ext cx="45720" cy="4572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1508760"/>
            <a:ext cx="45720" cy="4572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1920240"/>
            <a:ext cx="45720" cy="4572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55080" y="274320"/>
            <a:ext cx="45720" cy="4572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55080" y="685800"/>
            <a:ext cx="45720" cy="4572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1097280"/>
            <a:ext cx="45720" cy="4572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508760"/>
            <a:ext cx="45720" cy="4572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5080" y="1920240"/>
            <a:ext cx="45720" cy="4572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0" y="274320"/>
            <a:ext cx="45720" cy="4572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0" y="685800"/>
            <a:ext cx="45720" cy="4572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0" y="1097280"/>
            <a:ext cx="45720" cy="4572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0" y="1508760"/>
            <a:ext cx="45720" cy="4572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0" y="1920240"/>
            <a:ext cx="45720" cy="4572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274320"/>
            <a:ext cx="45720" cy="4572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78040" y="685800"/>
            <a:ext cx="45720" cy="4572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78040" y="1097280"/>
            <a:ext cx="45720" cy="4572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78040" y="1508760"/>
            <a:ext cx="45720" cy="4572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78040" y="1920240"/>
            <a:ext cx="45720" cy="4572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0" y="274320"/>
            <a:ext cx="45720" cy="4572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89520" y="685800"/>
            <a:ext cx="45720" cy="4572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9520" y="1097280"/>
            <a:ext cx="45720" cy="4572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89520" y="1508760"/>
            <a:ext cx="45720" cy="4572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89520" y="1920240"/>
            <a:ext cx="45720" cy="4572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01000" y="274320"/>
            <a:ext cx="45720" cy="4572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01000" y="685800"/>
            <a:ext cx="45720" cy="4572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01000" y="1097280"/>
            <a:ext cx="45720" cy="4572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01000" y="1508760"/>
            <a:ext cx="45720" cy="4572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01000" y="1920240"/>
            <a:ext cx="45720" cy="4572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12480" y="274320"/>
            <a:ext cx="45720" cy="4572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0" y="685800"/>
            <a:ext cx="45720" cy="4572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12480" y="1097280"/>
            <a:ext cx="45720" cy="4572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12480" y="1508760"/>
            <a:ext cx="45720" cy="4572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12480" y="1920240"/>
            <a:ext cx="45720" cy="4572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685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SOFTWARE ENGINEERING PROJECT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4360" y="1005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0" b="1" kern="0" spc="-1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UrbanHive</a:t>
            </a:r>
            <a:endParaRPr lang="en-US" sz="6800" dirty="0"/>
          </a:p>
        </p:txBody>
      </p:sp>
      <p:sp>
        <p:nvSpPr>
          <p:cNvPr id="39" name="Text 37"/>
          <p:cNvSpPr/>
          <p:nvPr/>
        </p:nvSpPr>
        <p:spPr>
          <a:xfrm>
            <a:off x="594360" y="194767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8A8A8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Housing Society Management System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594360" y="2468880"/>
            <a:ext cx="1645920" cy="1828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26243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MIT World Peace University, Pune  ·  2025–2026  ·  SE &amp; Modelling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132320" y="731520"/>
            <a:ext cx="2560320" cy="2560320"/>
          </a:xfrm>
          <a:prstGeom prst="ellipse">
            <a:avLst/>
          </a:prstGeom>
          <a:solidFill>
            <a:srgbClr val="0071E3">
              <a:alpha val="12000"/>
            </a:srgbClr>
          </a:solidFill>
          <a:ln w="12700">
            <a:solidFill>
              <a:srgbClr val="0071E3">
                <a:alpha val="1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98080" y="1097280"/>
            <a:ext cx="1828800" cy="1828800"/>
          </a:xfrm>
          <a:prstGeom prst="ellipse">
            <a:avLst/>
          </a:prstGeom>
          <a:solidFill>
            <a:srgbClr val="0071E3">
              <a:alpha val="22000"/>
            </a:srgbClr>
          </a:solidFill>
          <a:ln w="12700">
            <a:solidFill>
              <a:srgbClr val="0071E3">
                <a:alpha val="22000"/>
              </a:srgbClr>
            </a:solidFill>
            <a:prstDash val="solid"/>
          </a:ln>
        </p:spPr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BA485F8D-6D38-5D96-B7A5-73E75EB438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595300"/>
              </p:ext>
            </p:extLst>
          </p:nvPr>
        </p:nvGraphicFramePr>
        <p:xfrm>
          <a:off x="594360" y="3318435"/>
          <a:ext cx="3802828" cy="127000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1313557365"/>
                    </a:ext>
                  </a:extLst>
                </a:gridCol>
                <a:gridCol w="1303019">
                  <a:extLst>
                    <a:ext uri="{9D8B030D-6E8A-4147-A177-3AD203B41FA5}">
                      <a16:colId xmlns:a16="http://schemas.microsoft.com/office/drawing/2014/main" val="3436254289"/>
                    </a:ext>
                  </a:extLst>
                </a:gridCol>
                <a:gridCol w="1062318">
                  <a:extLst>
                    <a:ext uri="{9D8B030D-6E8A-4147-A177-3AD203B41FA5}">
                      <a16:colId xmlns:a16="http://schemas.microsoft.com/office/drawing/2014/main" val="575737722"/>
                    </a:ext>
                  </a:extLst>
                </a:gridCol>
                <a:gridCol w="865991">
                  <a:extLst>
                    <a:ext uri="{9D8B030D-6E8A-4147-A177-3AD203B41FA5}">
                      <a16:colId xmlns:a16="http://schemas.microsoft.com/office/drawing/2014/main" val="315549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 Neue"/>
                          <a:ea typeface="Cambria" panose="02040503050406030204" pitchFamily="18" charset="0"/>
                        </a:rPr>
                        <a:t>Sr. No.</a:t>
                      </a:r>
                      <a:endParaRPr lang="en-IN" sz="1100" b="1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Helvetica Neue"/>
                        <a:ea typeface="Cambria" panose="020405030504060302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 Neue"/>
                          <a:ea typeface="Cambria" panose="02040503050406030204" pitchFamily="18" charset="0"/>
                        </a:rPr>
                        <a:t>Student Name</a:t>
                      </a:r>
                      <a:endParaRPr lang="en-IN" sz="1100" b="1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Helvetica Neue"/>
                        <a:ea typeface="Cambria" panose="020405030504060302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 Neue"/>
                          <a:ea typeface="Cambria" panose="02040503050406030204" pitchFamily="18" charset="0"/>
                        </a:rPr>
                        <a:t>PRN No.</a:t>
                      </a:r>
                      <a:endParaRPr lang="en-IN" sz="1100" b="1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Helvetica Neue"/>
                        <a:ea typeface="Cambria" panose="020405030504060302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 Neue"/>
                          <a:ea typeface="Cambria" panose="02040503050406030204" pitchFamily="18" charset="0"/>
                        </a:rPr>
                        <a:t>Roll No.</a:t>
                      </a:r>
                      <a:endParaRPr lang="en-IN" sz="1100" b="1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Helvetica Neue"/>
                        <a:ea typeface="Cambria" panose="020405030504060302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94813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 Neue"/>
                          <a:ea typeface="Cambria" panose="02040503050406030204" pitchFamily="18" charset="0"/>
                        </a:rPr>
                        <a:t>1</a:t>
                      </a:r>
                      <a:endParaRPr lang="en-IN" sz="1100" b="1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Helvetica Neue"/>
                        <a:ea typeface="Cambria" panose="020405030504060302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 Neue"/>
                          <a:ea typeface="Cambria" panose="02040503050406030204" pitchFamily="18" charset="0"/>
                        </a:rPr>
                        <a:t>Kunal Tailor</a:t>
                      </a:r>
                      <a:endParaRPr lang="en-IN" sz="1100" b="1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Helvetica Neue"/>
                        <a:ea typeface="Cambria" panose="020405030504060302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 Neue"/>
                          <a:ea typeface="Cambria" panose="02040503050406030204" pitchFamily="18" charset="0"/>
                        </a:rPr>
                        <a:t>1032233258</a:t>
                      </a:r>
                      <a:endParaRPr lang="en-IN" sz="1100" b="1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Helvetica Neue"/>
                        <a:ea typeface="Cambria" panose="020405030504060302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 Neue"/>
                          <a:ea typeface="Cambria" panose="02040503050406030204" pitchFamily="18" charset="0"/>
                        </a:rPr>
                        <a:t>38</a:t>
                      </a:r>
                      <a:endParaRPr lang="en-IN" sz="1100" b="1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Helvetica Neue"/>
                        <a:ea typeface="Cambria" panose="020405030504060302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875354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 Neue"/>
                          <a:ea typeface="Cambria" panose="02040503050406030204" pitchFamily="18" charset="0"/>
                        </a:rPr>
                        <a:t>2</a:t>
                      </a:r>
                      <a:endParaRPr lang="en-IN" sz="1100" b="1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Helvetica Neue"/>
                        <a:ea typeface="Cambria" panose="020405030504060302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 Neue"/>
                          <a:ea typeface="Cambria" panose="02040503050406030204" pitchFamily="18" charset="0"/>
                        </a:rPr>
                        <a:t>Rishav Singh</a:t>
                      </a:r>
                      <a:endParaRPr lang="en-IN" sz="1100" b="1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Helvetica Neue"/>
                        <a:ea typeface="Cambria" panose="020405030504060302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 Neue"/>
                          <a:ea typeface="Cambria" panose="02040503050406030204" pitchFamily="18" charset="0"/>
                        </a:rPr>
                        <a:t>1032233012</a:t>
                      </a:r>
                      <a:endParaRPr lang="en-IN" sz="1100" b="1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Helvetica Neue"/>
                        <a:ea typeface="Cambria" panose="020405030504060302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 Neue"/>
                          <a:ea typeface="Cambria" panose="02040503050406030204" pitchFamily="18" charset="0"/>
                        </a:rPr>
                        <a:t>34</a:t>
                      </a:r>
                      <a:endParaRPr lang="en-IN" sz="1100" b="1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Helvetica Neue"/>
                        <a:ea typeface="Cambria" panose="020405030504060302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146767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 Neue"/>
                          <a:ea typeface="Cambria" panose="02040503050406030204" pitchFamily="18" charset="0"/>
                        </a:rPr>
                        <a:t>3</a:t>
                      </a:r>
                      <a:endParaRPr lang="en-IN" sz="1100" b="1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Helvetica Neue"/>
                        <a:ea typeface="Cambria" panose="020405030504060302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 Neue"/>
                          <a:ea typeface="Cambria" panose="02040503050406030204" pitchFamily="18" charset="0"/>
                        </a:rPr>
                        <a:t>Prakash</a:t>
                      </a:r>
                      <a:endParaRPr lang="en-IN" sz="1100" b="1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Helvetica Neue"/>
                        <a:ea typeface="Cambria" panose="020405030504060302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 Neue"/>
                          <a:ea typeface="Cambria" panose="02040503050406030204" pitchFamily="18" charset="0"/>
                        </a:rPr>
                        <a:t>1032233277</a:t>
                      </a:r>
                      <a:endParaRPr lang="en-IN" sz="1100" b="1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Helvetica Neue"/>
                        <a:ea typeface="Cambria" panose="020405030504060302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 Neue"/>
                          <a:ea typeface="Cambria" panose="02040503050406030204" pitchFamily="18" charset="0"/>
                        </a:rPr>
                        <a:t>40</a:t>
                      </a:r>
                      <a:endParaRPr lang="en-IN" sz="1100" b="1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Helvetica Neue"/>
                        <a:ea typeface="Cambria" panose="020405030504060302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588721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 Neue"/>
                          <a:ea typeface="Cambria" panose="02040503050406030204" pitchFamily="18" charset="0"/>
                        </a:rPr>
                        <a:t>4</a:t>
                      </a:r>
                      <a:endParaRPr lang="en-IN" sz="1100" b="1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Helvetica Neue"/>
                        <a:ea typeface="Cambria" panose="020405030504060302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 Neue"/>
                          <a:ea typeface="Cambria" panose="02040503050406030204" pitchFamily="18" charset="0"/>
                        </a:rPr>
                        <a:t>Anuj Kudu</a:t>
                      </a:r>
                      <a:endParaRPr lang="en-IN" sz="1100" b="1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Helvetica Neue"/>
                        <a:ea typeface="Cambria" panose="020405030504060302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 Neue"/>
                          <a:ea typeface="Cambria" panose="02040503050406030204" pitchFamily="18" charset="0"/>
                        </a:rPr>
                        <a:t>1032233203</a:t>
                      </a:r>
                      <a:endParaRPr lang="en-IN" sz="1100" b="1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Helvetica Neue"/>
                        <a:ea typeface="Cambria" panose="020405030504060302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Helvetica Neue"/>
                          <a:ea typeface="Cambria" panose="02040503050406030204" pitchFamily="18" charset="0"/>
                        </a:rPr>
                        <a:t>36</a:t>
                      </a:r>
                      <a:endParaRPr lang="en-IN" sz="1100" b="1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Helvetica Neue"/>
                        <a:ea typeface="Cambria" panose="020405030504060302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451301649"/>
                  </a:ext>
                </a:extLst>
              </a:tr>
            </a:tbl>
          </a:graphicData>
        </a:graphic>
      </p:graphicFrame>
      <p:sp>
        <p:nvSpPr>
          <p:cNvPr id="46" name="Text 6">
            <a:extLst>
              <a:ext uri="{FF2B5EF4-FFF2-40B4-BE49-F238E27FC236}">
                <a16:creationId xmlns:a16="http://schemas.microsoft.com/office/drawing/2014/main" id="{BD5FCCF3-AE5D-9196-9A95-B5ABBEAAC584}"/>
              </a:ext>
            </a:extLst>
          </p:cNvPr>
          <p:cNvSpPr/>
          <p:nvPr/>
        </p:nvSpPr>
        <p:spPr>
          <a:xfrm>
            <a:off x="4988859" y="3953435"/>
            <a:ext cx="2299000" cy="597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</a:t>
            </a:r>
            <a:endParaRPr lang="en-US" i="1" dirty="0">
              <a:solidFill>
                <a:srgbClr val="E8C97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Yogesh Kulkarni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PROBLEM STATEMENT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UrbanHive Exists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9748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6350">
            <a:solidFill>
              <a:srgbClr val="E8E8ED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9844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16824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Manual Registers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956816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Complaint books, payment ledgers, and attendance sheets are error-prone and impossible to audit at scale.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10128" y="1188720"/>
            <a:ext cx="269748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6350">
            <a:solidFill>
              <a:srgbClr val="E8E8ED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10128" y="129844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💬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47288" y="16824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Fragmented Comms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47288" y="1956816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WhatsApp groups and verbal notices leave residents without a structured, role-filtered announcement channel.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63056" y="1188720"/>
            <a:ext cx="269748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6350">
            <a:solidFill>
              <a:srgbClr val="E8E8ED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63056" y="129844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00216" y="16824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Accountability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0216" y="1956816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complaint ownership, no status trail, no payment transparency — residents are left in the dark.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035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Technical Gaps in Existing Approaches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483864"/>
            <a:ext cx="128016" cy="128016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429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centralized authentication — shared logins undermine accountability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3483864"/>
            <a:ext cx="128016" cy="128016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01768" y="3429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Role mixing — general apps like Google Sheets don't enforce access boundaries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959352"/>
            <a:ext cx="128016" cy="128016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9044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workflow state machine — complaints don't move through defined lifecycle states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3959352"/>
            <a:ext cx="128016" cy="128016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01768" y="39044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API contract — frontend &amp; backend can't be developed or tested independently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SYSTEM ARCHITECTURE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Three-Tier, Role-Aware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2606040" cy="2377440"/>
          </a:xfrm>
          <a:prstGeom prst="rect">
            <a:avLst/>
          </a:prstGeom>
          <a:solidFill>
            <a:srgbClr val="E8F0FE"/>
          </a:solidFill>
          <a:ln w="19050">
            <a:solidFill>
              <a:srgbClr val="0071E3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5331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Frontend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Static HTML / CSS / JS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2057400" cy="1828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2402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Role-based routing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JWT guards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10+ dashboard pages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27248" y="2340864"/>
            <a:ext cx="146304" cy="18288"/>
          </a:xfrm>
          <a:prstGeom prst="rect">
            <a:avLst/>
          </a:prstGeom>
          <a:solidFill>
            <a:srgbClr val="6E6E73"/>
          </a:solidFill>
          <a:ln w="12700">
            <a:solidFill>
              <a:srgbClr val="6E6E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81528" y="224028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91840" y="1207008"/>
            <a:ext cx="2606040" cy="2377440"/>
          </a:xfrm>
          <a:prstGeom prst="rect">
            <a:avLst/>
          </a:prstGeom>
          <a:solidFill>
            <a:srgbClr val="F0FFF4"/>
          </a:solidFill>
          <a:ln w="19050">
            <a:solidFill>
              <a:srgbClr val="34C759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135331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REST API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91840" y="17373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Node.js / Express.js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566160" y="2103120"/>
            <a:ext cx="2057400" cy="18288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6432" y="22402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RBAC middleware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JWT verification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Controller pattern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61888" y="2340864"/>
            <a:ext cx="146304" cy="18288"/>
          </a:xfrm>
          <a:prstGeom prst="rect">
            <a:avLst/>
          </a:prstGeom>
          <a:solidFill>
            <a:srgbClr val="6E6E73"/>
          </a:solidFill>
          <a:ln w="12700">
            <a:solidFill>
              <a:srgbClr val="6E6E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16168" y="224028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⇄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1207008"/>
            <a:ext cx="2606040" cy="2377440"/>
          </a:xfrm>
          <a:prstGeom prst="rect">
            <a:avLst/>
          </a:prstGeom>
          <a:solidFill>
            <a:srgbClr val="FFF8E6"/>
          </a:solidFill>
          <a:ln w="19050">
            <a:solidFill>
              <a:srgbClr val="FF9F0A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26480" y="135331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Database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26480" y="17373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MongoDB Atlas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0" y="2103120"/>
            <a:ext cx="2057400" cy="18288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91072" y="22402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 collections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Mongoose ODM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Soft-delete pattern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8229600" cy="658368"/>
          </a:xfrm>
          <a:prstGeom prst="rect">
            <a:avLst/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  <a:effectLst>
            <a:outerShdw blurRad="2286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385876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🔐  RBAC enforced at two levels — Frontend hides UI elements based on JWT role · Backend independently rejects unauthorized requests on every endpoint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MULTI-ROLE SYSTEM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Roles. One Platform.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84048" y="1143000"/>
            <a:ext cx="2651760" cy="3547872"/>
          </a:xfrm>
          <a:prstGeom prst="rect">
            <a:avLst/>
          </a:prstGeom>
          <a:solidFill>
            <a:srgbClr val="FFFFFF"/>
          </a:solidFill>
          <a:ln w="25400">
            <a:solidFill>
              <a:srgbClr val="E8F0FE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143000"/>
            <a:ext cx="2651760" cy="347472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95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Resident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5727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🏠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66928" y="2139696"/>
            <a:ext cx="109728" cy="10972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4825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Raise &amp; track complaints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" y="2615184"/>
            <a:ext cx="109728" cy="10972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52374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Submit maintenance payments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3090672"/>
            <a:ext cx="109728" cy="10972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99923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Request visitor approvals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" y="3566160"/>
            <a:ext cx="109728" cy="10972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47472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View notices &amp; events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" y="4041648"/>
            <a:ext cx="109728" cy="10972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95020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Book society amenities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18688" y="1143000"/>
            <a:ext cx="2651760" cy="3547872"/>
          </a:xfrm>
          <a:prstGeom prst="rect">
            <a:avLst/>
          </a:prstGeom>
          <a:solidFill>
            <a:srgbClr val="FFFFFF"/>
          </a:solidFill>
          <a:ln w="25400">
            <a:solidFill>
              <a:srgbClr val="F0FFF4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18688" y="1143000"/>
            <a:ext cx="2651760" cy="347472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1795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Manager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18688" y="15727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🗂️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3401568" y="2139696"/>
            <a:ext cx="109728" cy="109728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204825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Assign complaints to workers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01568" y="2615184"/>
            <a:ext cx="109728" cy="109728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252374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Verify payment submissions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01568" y="3090672"/>
            <a:ext cx="109728" cy="109728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299923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Approve visitor requests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01568" y="3566160"/>
            <a:ext cx="109728" cy="109728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347472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Publish notices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01568" y="4041648"/>
            <a:ext cx="109728" cy="109728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66160" y="395020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Monitor worker attendance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53328" y="1143000"/>
            <a:ext cx="2651760" cy="3547872"/>
          </a:xfrm>
          <a:prstGeom prst="rect">
            <a:avLst/>
          </a:prstGeom>
          <a:solidFill>
            <a:srgbClr val="FFFFFF"/>
          </a:solidFill>
          <a:ln w="25400">
            <a:solidFill>
              <a:srgbClr val="FFF8E6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53328" y="1143000"/>
            <a:ext cx="2651760" cy="347472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11795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Worker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053328" y="15727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🔧</a:t>
            </a:r>
            <a:endParaRPr lang="en-US" sz="2600" dirty="0"/>
          </a:p>
        </p:txBody>
      </p:sp>
      <p:sp>
        <p:nvSpPr>
          <p:cNvPr id="36" name="Shape 34"/>
          <p:cNvSpPr/>
          <p:nvPr/>
        </p:nvSpPr>
        <p:spPr>
          <a:xfrm>
            <a:off x="6236208" y="2139696"/>
            <a:ext cx="109728" cy="109728"/>
          </a:xfrm>
          <a:prstGeom prst="ellipse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204825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View assigned tasks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36208" y="2615184"/>
            <a:ext cx="109728" cy="109728"/>
          </a:xfrm>
          <a:prstGeom prst="ellipse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252374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 attendance in/out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36208" y="3090672"/>
            <a:ext cx="109728" cy="109728"/>
          </a:xfrm>
          <a:prstGeom prst="ellipse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299923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Report task completion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36208" y="3566160"/>
            <a:ext cx="109728" cy="109728"/>
          </a:xfrm>
          <a:prstGeom prst="ellipse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347472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Receive staff-tagged notices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36208" y="4041648"/>
            <a:ext cx="109728" cy="109728"/>
          </a:xfrm>
          <a:prstGeom prst="ellipse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395020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Update availability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B2B5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 0" descr="/home/claude/system_arch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868680"/>
            <a:ext cx="78638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PROJECT MODULES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Five Core Modules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84048" y="1143000"/>
            <a:ext cx="2651760" cy="166420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8E8ED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801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1848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Auth &amp; RBAC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11096"/>
            <a:ext cx="809244" cy="237744"/>
          </a:xfrm>
          <a:prstGeom prst="roundRect">
            <a:avLst>
              <a:gd name="adj" fmla="val 50000"/>
            </a:avLst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929384"/>
            <a:ext cx="8092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 2 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185416"/>
            <a:ext cx="2322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JWT login, bcrypt hashing, role guards on every protected endpoint. Server-side RBAC independent of frontend.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18688" y="1143000"/>
            <a:ext cx="2651760" cy="166420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8E8ED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12801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83280" y="161848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Core Workflows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83280" y="1911096"/>
            <a:ext cx="809244" cy="237744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1929384"/>
            <a:ext cx="8092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 3 →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83280" y="2185416"/>
            <a:ext cx="2322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Complaints lifecycle (Open→Resolved), payment verification, visitor management, and notice board.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53328" y="1143000"/>
            <a:ext cx="2651760" cy="166420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8E8ED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12801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17920" y="161848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Secondary Modules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1911096"/>
            <a:ext cx="690372" cy="237744"/>
          </a:xfrm>
          <a:prstGeom prst="roundRect">
            <a:avLst>
              <a:gd name="adj" fmla="val 50000"/>
            </a:avLst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1929384"/>
            <a:ext cx="6903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 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17920" y="2185416"/>
            <a:ext cx="2322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Event management, amenity booking (with availability checks), profile management, and notification fanout.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84048" y="3063240"/>
            <a:ext cx="4251960" cy="166420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8E8ED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320040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8640" y="3538728"/>
            <a:ext cx="3922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UI Integration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3831336"/>
            <a:ext cx="690372" cy="237744"/>
          </a:xfrm>
          <a:prstGeom prst="roundRect">
            <a:avLst>
              <a:gd name="adj" fmla="val 50000"/>
            </a:avLst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849624"/>
            <a:ext cx="6903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 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4105656"/>
            <a:ext cx="3922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Static frontend connected to live API. Centralized API client with JWT injection, error handling, and loading states.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3063240"/>
            <a:ext cx="4251960" cy="166420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8E8ED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73752" y="320040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873752" y="3538728"/>
            <a:ext cx="3922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Security &amp; Deploy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73752" y="3831336"/>
            <a:ext cx="809244" cy="237744"/>
          </a:xfrm>
          <a:prstGeom prst="roundRect">
            <a:avLst>
              <a:gd name="adj" fmla="val 50000"/>
            </a:avLst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849624"/>
            <a:ext cx="8092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 6–7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73752" y="4105656"/>
            <a:ext cx="3922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Input validation (express-validator), CORS hardening, rate limiting, Render deployment with MongoDB Atlas.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SOFTWARE PROCESS MODEL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Incremental Delivery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7472" y="1234440"/>
            <a:ext cx="685800" cy="685800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34416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0312" y="202996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Definition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33272" y="1572768"/>
            <a:ext cx="274320" cy="18288"/>
          </a:xfrm>
          <a:prstGeom prst="rect">
            <a:avLst/>
          </a:prstGeom>
          <a:solidFill>
            <a:srgbClr val="3A3A3C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16736" y="1234440"/>
            <a:ext cx="685800" cy="685800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16736" y="134416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79576" y="202996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Model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&amp; API Map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002536" y="1572768"/>
            <a:ext cx="274320" cy="18288"/>
          </a:xfrm>
          <a:prstGeom prst="rect">
            <a:avLst/>
          </a:prstGeom>
          <a:solidFill>
            <a:srgbClr val="3A3A3C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234440"/>
            <a:ext cx="685800" cy="685800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134416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48840" y="202996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Auth &amp;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Role Routing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971800" y="1572768"/>
            <a:ext cx="274320" cy="18288"/>
          </a:xfrm>
          <a:prstGeom prst="rect">
            <a:avLst/>
          </a:prstGeom>
          <a:solidFill>
            <a:srgbClr val="3A3A3C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55264" y="1234440"/>
            <a:ext cx="685800" cy="685800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55264" y="134416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18104" y="202996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Workflows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941064" y="1572768"/>
            <a:ext cx="274320" cy="18288"/>
          </a:xfrm>
          <a:prstGeom prst="rect">
            <a:avLst/>
          </a:prstGeom>
          <a:solidFill>
            <a:srgbClr val="3A3A3C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24528" y="1234440"/>
            <a:ext cx="685800" cy="685800"/>
          </a:xfrm>
          <a:prstGeom prst="ellipse">
            <a:avLst/>
          </a:prstGeom>
          <a:solidFill>
            <a:srgbClr val="3A3A3C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24528" y="134416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087368" y="202996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Secondary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Modules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910328" y="1572768"/>
            <a:ext cx="274320" cy="18288"/>
          </a:xfrm>
          <a:prstGeom prst="rect">
            <a:avLst/>
          </a:prstGeom>
          <a:solidFill>
            <a:srgbClr val="3A3A3C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93792" y="1234440"/>
            <a:ext cx="685800" cy="685800"/>
          </a:xfrm>
          <a:prstGeom prst="ellipse">
            <a:avLst/>
          </a:prstGeom>
          <a:solidFill>
            <a:srgbClr val="3A3A3C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93792" y="134416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56632" y="202996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UI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Integration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879592" y="1572768"/>
            <a:ext cx="274320" cy="18288"/>
          </a:xfrm>
          <a:prstGeom prst="rect">
            <a:avLst/>
          </a:prstGeom>
          <a:solidFill>
            <a:srgbClr val="3A3A3C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63056" y="1234440"/>
            <a:ext cx="685800" cy="685800"/>
          </a:xfrm>
          <a:prstGeom prst="ellipse">
            <a:avLst/>
          </a:prstGeom>
          <a:solidFill>
            <a:srgbClr val="3A3A3C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63056" y="134416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25896" y="202996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Security &amp;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Validation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848856" y="1572768"/>
            <a:ext cx="274320" cy="18288"/>
          </a:xfrm>
          <a:prstGeom prst="rect">
            <a:avLst/>
          </a:prstGeom>
          <a:solidFill>
            <a:srgbClr val="3A3A3C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0" y="1234440"/>
            <a:ext cx="685800" cy="685800"/>
          </a:xfrm>
          <a:prstGeom prst="ellipse">
            <a:avLst/>
          </a:prstGeom>
          <a:solidFill>
            <a:srgbClr val="3A3A3C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0" y="134416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P7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95160" y="202996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Deploy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818120" y="1572768"/>
            <a:ext cx="274320" cy="18288"/>
          </a:xfrm>
          <a:prstGeom prst="rect">
            <a:avLst/>
          </a:prstGeom>
          <a:solidFill>
            <a:srgbClr val="3A3A3C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01584" y="1234440"/>
            <a:ext cx="685800" cy="685800"/>
          </a:xfrm>
          <a:prstGeom prst="ellipse">
            <a:avLst/>
          </a:prstGeom>
          <a:solidFill>
            <a:srgbClr val="3A3A3C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01584" y="134416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P8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964424" y="202996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Polish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Incremental over Waterfall?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57200" y="3200400"/>
            <a:ext cx="2926080" cy="329184"/>
          </a:xfrm>
          <a:prstGeom prst="rect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" y="32369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Early Working Software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456432" y="3200400"/>
            <a:ext cx="2743200" cy="329184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66160" y="32369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C7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 After each phase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272784" y="3200400"/>
            <a:ext cx="2414016" cy="329184"/>
          </a:xfrm>
          <a:prstGeom prst="rect">
            <a:avLst/>
          </a:prstGeom>
          <a:solidFill>
            <a:srgbClr val="3A1A1A"/>
          </a:solidFill>
          <a:ln w="12700">
            <a:solidFill>
              <a:srgbClr val="3A1A1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82512" y="32369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45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✗  Only at the end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3602736"/>
            <a:ext cx="2926080" cy="329184"/>
          </a:xfrm>
          <a:prstGeom prst="rect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6928" y="3639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Handles Evolving Requirements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456432" y="3602736"/>
            <a:ext cx="2743200" cy="329184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66160" y="36393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C7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 Later phases absorb changes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272784" y="3602736"/>
            <a:ext cx="2414016" cy="329184"/>
          </a:xfrm>
          <a:prstGeom prst="rect">
            <a:avLst/>
          </a:prstGeom>
          <a:solidFill>
            <a:srgbClr val="3A1A1A"/>
          </a:solidFill>
          <a:ln w="12700">
            <a:solidFill>
              <a:srgbClr val="3A1A1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82512" y="36393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45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✗  Scope freeze required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" y="4005072"/>
            <a:ext cx="2926080" cy="329184"/>
          </a:xfrm>
          <a:prstGeom prst="rect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6928" y="4041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User Feedback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456432" y="4005072"/>
            <a:ext cx="2743200" cy="329184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66160" y="40416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C7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 Per increment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272784" y="4005072"/>
            <a:ext cx="2414016" cy="329184"/>
          </a:xfrm>
          <a:prstGeom prst="rect">
            <a:avLst/>
          </a:prstGeom>
          <a:solidFill>
            <a:srgbClr val="3A1A1A"/>
          </a:solidFill>
          <a:ln w="12700">
            <a:solidFill>
              <a:srgbClr val="3A1A1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82512" y="40416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45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✗  Only post-delivery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57200" y="4407408"/>
            <a:ext cx="2926080" cy="329184"/>
          </a:xfrm>
          <a:prstGeom prst="rect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6928" y="44439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Risk Management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456432" y="4407408"/>
            <a:ext cx="2743200" cy="329184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566160" y="44439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C7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 High-risk first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272784" y="4407408"/>
            <a:ext cx="2414016" cy="329184"/>
          </a:xfrm>
          <a:prstGeom prst="rect">
            <a:avLst/>
          </a:prstGeom>
          <a:solidFill>
            <a:srgbClr val="3A1A1A"/>
          </a:solidFill>
          <a:ln w="12700">
            <a:solidFill>
              <a:srgbClr val="3A1A1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82512" y="44439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45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✗  Risks surface late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TECHNOLOGY STACK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Tools &amp; Technologies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84048" y="1143000"/>
            <a:ext cx="2651760" cy="166420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8E8ED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143000"/>
            <a:ext cx="54864" cy="16642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801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Frontend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16184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HTML / CSS / JavaScript (Vanilla)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19842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Role-aware page routing with JS guards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23500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JWT decode for conditional rendering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18688" y="1143000"/>
            <a:ext cx="2651760" cy="166420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8E8ED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143000"/>
            <a:ext cx="54864" cy="1664208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1568" y="12801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Backend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01568" y="16184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Node.js 20+  ·  Express.js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01568" y="19842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JWT (jsonwebtoken)  ·  bcrypt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01568" y="23500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express-validator  ·  dotenv  ·  nodemon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53328" y="1143000"/>
            <a:ext cx="2651760" cy="166420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8E8ED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53328" y="1143000"/>
            <a:ext cx="54864" cy="1664208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12801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Database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36208" y="16184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MongoDB Atlas (Cloud)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36208" y="19842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Mongoose ODM — 15 collections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36208" y="23500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Connection pooling  ·  IP allowlisting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417320" y="3063240"/>
            <a:ext cx="2651760" cy="166420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8E8ED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417320" y="3063240"/>
            <a:ext cx="54864" cy="1664208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00200" y="32004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Auth &amp; Security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600200" y="35387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JWT stateless token auth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600200" y="39044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RBAC middleware (server-side)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600200" y="42702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CORS config  ·  Rate limiting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251960" y="3063240"/>
            <a:ext cx="2651760" cy="166420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8E8ED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51960" y="3063240"/>
            <a:ext cx="54864" cy="1664208"/>
          </a:xfrm>
          <a:prstGeom prst="rect">
            <a:avLst/>
          </a:prstGeom>
          <a:solidFill>
            <a:srgbClr val="FF453A"/>
          </a:solidFill>
          <a:ln w="12700">
            <a:solidFill>
              <a:srgbClr val="FF45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34840" y="32004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DevOps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434840" y="35387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Render cloud hosting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434840" y="39044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Environment variables (never in source)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434840" y="42702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GET /health endpoint  ·  GitHub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DATABASE DESIGN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 MongoDB Collections — 5 Logical Groups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84048" y="1234440"/>
            <a:ext cx="1572768" cy="347472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28016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Core / Auth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84048" y="1691640"/>
            <a:ext cx="157276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0071E3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173736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Users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84048" y="2130552"/>
            <a:ext cx="157276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0071E3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21762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Roles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84048" y="2569464"/>
            <a:ext cx="157276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0071E3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" y="261518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Permissions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84048" y="3008376"/>
            <a:ext cx="157276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0071E3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" y="305409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Role_Permissions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103120" y="1234440"/>
            <a:ext cx="1572768" cy="347472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0" y="128016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Resident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103120" y="1691640"/>
            <a:ext cx="157276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34C759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103120" y="173736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Residents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103120" y="2130552"/>
            <a:ext cx="157276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34C759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103120" y="21762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Flats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822192" y="1234440"/>
            <a:ext cx="1572768" cy="347472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22192" y="128016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Operations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822192" y="1691640"/>
            <a:ext cx="157276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FF9F0A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822192" y="173736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Complaints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822192" y="2130552"/>
            <a:ext cx="157276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FF9F0A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822192" y="21762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Payments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822192" y="2569464"/>
            <a:ext cx="157276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FF9F0A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822192" y="261518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Visitor_Logs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822192" y="3008376"/>
            <a:ext cx="157276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FF9F0A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822192" y="305409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Notices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541264" y="1234440"/>
            <a:ext cx="1572768" cy="347472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41264" y="128016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541264" y="1691640"/>
            <a:ext cx="157276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BF5AF2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541264" y="173736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Workers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541264" y="2130552"/>
            <a:ext cx="157276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BF5AF2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541264" y="21762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Tasks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541264" y="2569464"/>
            <a:ext cx="157276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BF5AF2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541264" y="261518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Attendance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260336" y="1234440"/>
            <a:ext cx="1572768" cy="347472"/>
          </a:xfrm>
          <a:prstGeom prst="rect">
            <a:avLst/>
          </a:prstGeom>
          <a:solidFill>
            <a:srgbClr val="FF453A"/>
          </a:solidFill>
          <a:ln w="12700">
            <a:solidFill>
              <a:srgbClr val="FF45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60336" y="128016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260336" y="1691640"/>
            <a:ext cx="157276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FF453A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260336" y="173736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Notifications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260336" y="2130552"/>
            <a:ext cx="157276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FF453A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260336" y="21762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Managers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57200" y="3886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Design Decisions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" y="4297680"/>
            <a:ext cx="91440" cy="91440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" y="42245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Single Users table for all roles — role-specific data in separate linked collections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4572000"/>
            <a:ext cx="91440" cy="91440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1792" y="44988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Complaint status as ENUM (Open → Assigned → InProgress → Resolved) for state machine integrity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57200" y="4846320"/>
            <a:ext cx="91440" cy="91440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1792" y="4773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Soft-delete pattern — records are never hard-deleted, preserving a complete audit trail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RESULTS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We've Built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84048" y="1143000"/>
            <a:ext cx="1993392" cy="1298448"/>
          </a:xfrm>
          <a:prstGeom prst="rect">
            <a:avLst/>
          </a:prstGeom>
          <a:solidFill>
            <a:srgbClr val="2C2C2E"/>
          </a:solidFill>
          <a:ln w="12700">
            <a:solidFill>
              <a:srgbClr val="3A3A3C"/>
            </a:solidFill>
            <a:prstDash val="solid"/>
          </a:ln>
          <a:effectLst>
            <a:outerShdw blurRad="2286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234440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84048" y="192024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8E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User Roles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E8E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RBAC Enforced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0" y="1143000"/>
            <a:ext cx="1993392" cy="1298448"/>
          </a:xfrm>
          <a:prstGeom prst="rect">
            <a:avLst/>
          </a:prstGeom>
          <a:solidFill>
            <a:srgbClr val="2C2C2E"/>
          </a:solidFill>
          <a:ln w="12700">
            <a:solidFill>
              <a:srgbClr val="3A3A3C"/>
            </a:solidFill>
            <a:prstDash val="solid"/>
          </a:ln>
          <a:effectLst>
            <a:outerShdw blurRad="2286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234440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560320" y="192024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8E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MongoDB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E8E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Collections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36592" y="1143000"/>
            <a:ext cx="1993392" cy="1298448"/>
          </a:xfrm>
          <a:prstGeom prst="rect">
            <a:avLst/>
          </a:prstGeom>
          <a:solidFill>
            <a:srgbClr val="2C2C2E"/>
          </a:solidFill>
          <a:ln w="12700">
            <a:solidFill>
              <a:srgbClr val="3A3A3C"/>
            </a:solidFill>
            <a:prstDash val="solid"/>
          </a:ln>
          <a:effectLst>
            <a:outerShdw blurRad="2286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36592" y="1234440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736592" y="192024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8E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Development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E8E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12864" y="1143000"/>
            <a:ext cx="1993392" cy="1298448"/>
          </a:xfrm>
          <a:prstGeom prst="rect">
            <a:avLst/>
          </a:prstGeom>
          <a:solidFill>
            <a:srgbClr val="2C2C2E"/>
          </a:solidFill>
          <a:ln w="12700">
            <a:solidFill>
              <a:srgbClr val="3A3A3C"/>
            </a:solidFill>
            <a:prstDash val="solid"/>
          </a:ln>
          <a:effectLst>
            <a:outerShdw blurRad="2286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12864" y="1234440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10+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912864" y="192024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8E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Static Frontend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E8E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Pages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6517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C7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" y="26517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Phase-0: Product definition, role matrix, feature lock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03580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C7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" y="303580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Phase-1: Full MongoDB schema + API endpoint specification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41985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C7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" y="341985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Phase-2: JWT auth, bcrypt, RBAC middleware, 3 demo accounts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80390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" y="380390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Phase-3: Core workflows — complaints, payments, visitors, notices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18795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C7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" y="418795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GET /health — server + DB connectivity confirmed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5720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C7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" y="4572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10+ frontend pages with role-based conditional rendering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CHALLENGES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Challenges &amp; How We Solved Them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84048" y="1143000"/>
            <a:ext cx="4160520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6350">
            <a:solidFill>
              <a:srgbClr val="E8E8ED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34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RBAC on Static Frontend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9F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⚠  Users could modify localStorage to bypass JS guards.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A8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 Server-side RBAC on every endpoint makes frontend bypass irrelevant.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27448" y="1143000"/>
            <a:ext cx="4160520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6350">
            <a:solidFill>
              <a:srgbClr val="E8E8ED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234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JWT Expiry UX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92040" y="15087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9F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⚠  Silent token expiry caused confusing mid-session 401 errors.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92040" y="18288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A8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 Token expiry checked before each API call with auto-redirect to login.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" y="2496312"/>
            <a:ext cx="4160520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6350">
            <a:solidFill>
              <a:srgbClr val="E8E8ED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5877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CORS Dev vs Production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28620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9F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⚠  localhost and Render URLs require different CORS origins.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31821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A8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 CORS origin read from environment variables with localhost fallback.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27448" y="2496312"/>
            <a:ext cx="4160520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6350">
            <a:solidFill>
              <a:srgbClr val="E8E8ED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25877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Static Frontend Routing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92040" y="28620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9F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⚠  Direct URL navigation bypasses login guards on HTML pages.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31821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A8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 Guard check at top of every protected page script — redirects if no token.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4048" y="3849624"/>
            <a:ext cx="4160520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6350">
            <a:solidFill>
              <a:srgbClr val="E8E8ED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39410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Phase-3 Scope Size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42153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9F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⚠  Four major workflows in one increment was too large.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53542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A8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 Subdivided into Sprint 3A (complaints + payments) and 3B (visitors + notices).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27448" y="3849624"/>
            <a:ext cx="4160520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6350">
            <a:solidFill>
              <a:srgbClr val="E8E8ED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39410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Mongoose Schema Sync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92040" y="42153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9F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⚠  Schema changes during Phase-1 conflicted with Phase-2 test data.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92040" y="453542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A8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 Schema version policy: all Phase-1 schema changes finalized before Phase-2 begins.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ROADMAP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84048" y="1143000"/>
            <a:ext cx="1993392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6350">
            <a:solidFill>
              <a:srgbClr val="E8E8ED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307592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💳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75488" y="1709928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Real Payment Gateway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5488" y="2039112"/>
            <a:ext cx="18105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Razorpay / Stripe for online maintenance collection with auto-reconciliation.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0" y="1143000"/>
            <a:ext cx="1993392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6350">
            <a:solidFill>
              <a:srgbClr val="E8E8ED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1307592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🤖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51760" y="1709928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Complaint Triage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651760" y="2039112"/>
            <a:ext cx="18105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LLM classifier to auto-tag Emergency complaints and suggest assignment.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36592" y="1143000"/>
            <a:ext cx="1993392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6350">
            <a:solidFill>
              <a:srgbClr val="E8E8ED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36592" y="1307592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📱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28032" y="1709928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Mobile App (React Native)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28032" y="2039112"/>
            <a:ext cx="18105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Native iOS/Android wrapping the same REST API with FCM push notifications.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912864" y="1143000"/>
            <a:ext cx="1993392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6350">
            <a:solidFill>
              <a:srgbClr val="E8E8ED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12864" y="1307592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🔐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004304" y="1709928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QR Visitor Entry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004304" y="2039112"/>
            <a:ext cx="18105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QR code generation for pre-approved guests, scanned at gate by security.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84048" y="2990088"/>
            <a:ext cx="1993392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6350">
            <a:solidFill>
              <a:srgbClr val="E8E8ED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84048" y="315468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🗳️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75488" y="355701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Online Voting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" y="3886200"/>
            <a:ext cx="18105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Digital elections for committee roles with tamper-evident vote records.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560320" y="2990088"/>
            <a:ext cx="1993392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6350">
            <a:solidFill>
              <a:srgbClr val="E8E8ED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560320" y="315468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🌐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651760" y="355701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Multi-Society SaaS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651760" y="3886200"/>
            <a:ext cx="18105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Multiple societies as isolated tenants under one platform.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36592" y="2990088"/>
            <a:ext cx="1993392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6350">
            <a:solidFill>
              <a:srgbClr val="E8E8ED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36592" y="315468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🔧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828032" y="355701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Predictive Maintenance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28032" y="3886200"/>
            <a:ext cx="18105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AMC schedule tracking for lifts, generators — alert managers before due dates.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912864" y="2990088"/>
            <a:ext cx="1993392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6350">
            <a:solidFill>
              <a:srgbClr val="E8E8ED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912864" y="315468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📡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004304" y="355701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IoT Sensor Integration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004304" y="3886200"/>
            <a:ext cx="18105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Water tank levels and generator health on Manager Dashboard in real time.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Project Team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84048" y="1143000"/>
            <a:ext cx="416052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6350">
            <a:solidFill>
              <a:srgbClr val="E8E8ED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143000"/>
            <a:ext cx="73152" cy="1783080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125272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Kunal Tailor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85216" y="1545336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Lead Engineer &amp; System Architect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" y="178308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PRN: 1032233258   Roll: 38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85216" y="2039112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Overall architecture, Phase-2 JWT/RBAC, Phase-3 complaint &amp; payment APIs, MongoDB schema, documentation.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27448" y="1143000"/>
            <a:ext cx="416052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6350">
            <a:solidFill>
              <a:srgbClr val="E8E8ED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27448" y="1143000"/>
            <a:ext cx="73152" cy="1783080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28616" y="125272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Rishav Singh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28616" y="1545336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C7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Backend Developer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28616" y="178308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PRN: 1032233012   Roll: 34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928616" y="2039112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Phase-1 API map, Mongoose models, Phase-3 visitor &amp; notice APIs, Phase-6 validation, Render deployment.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" y="3081528"/>
            <a:ext cx="416052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6350">
            <a:solidFill>
              <a:srgbClr val="E8E8ED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3081528"/>
            <a:ext cx="73152" cy="1783080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" y="319125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Prakash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85216" y="3483864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F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Frontend Developer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5216" y="372160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PRN: 1032233277   Roll: 40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85216" y="3977640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role dashboards, login/register UI, complaint &amp; payment components, responsive layout, routing guards.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27448" y="3081528"/>
            <a:ext cx="416052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6350">
            <a:solidFill>
              <a:srgbClr val="E8E8ED"/>
            </a:solidFill>
            <a:prstDash val="solid"/>
          </a:ln>
          <a:effectLst>
            <a:outerShdw blurRad="1524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27448" y="3081528"/>
            <a:ext cx="73152" cy="1783080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28616" y="319125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Anuj Kudu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28616" y="3483864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F5A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Testing &amp; Documentation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28616" y="372160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PRN: 1032233203   Roll: 36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928616" y="3977640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3A3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Phase-5 integration testing, bug log, regression tracking, user docs, system design, final presentation.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Guide: Yogesh Kulkarni  ·  MIT World Peace University, Pune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657600" cy="3657600"/>
          </a:xfrm>
          <a:prstGeom prst="ellipse">
            <a:avLst/>
          </a:prstGeom>
          <a:solidFill>
            <a:srgbClr val="0071E3">
              <a:alpha val="12000"/>
            </a:srgbClr>
          </a:solidFill>
          <a:ln w="12700">
            <a:solidFill>
              <a:srgbClr val="0071E3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286000"/>
            <a:ext cx="2743200" cy="2743200"/>
          </a:xfrm>
          <a:prstGeom prst="ellipse">
            <a:avLst/>
          </a:prstGeom>
          <a:solidFill>
            <a:srgbClr val="34C759">
              <a:alpha val="12000"/>
            </a:srgbClr>
          </a:solidFill>
          <a:ln w="12700">
            <a:solidFill>
              <a:srgbClr val="34C759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CONCLUSION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800" b="1" kern="0" spc="-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UrbanHive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640080" y="202996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8A8A8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Housing Society Management, Digitised.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578608"/>
            <a:ext cx="1371600" cy="1828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743200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EAE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clean three-tier, role-aware architecture proving that open-source technologies — Node.js, Express, MongoDB, and vanilla JavaScript — are sufficient to build a production-grade, privacy-conscious society management platform.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6634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MIT World Peace University, Pune  ·  2025–2026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1294</Words>
  <Application>Microsoft Office PowerPoint</Application>
  <PresentationFormat>On-screen Show (16:9)</PresentationFormat>
  <Paragraphs>306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UrbanHive — Housing Society Management System</dc:title>
  <dc:subject>PptxGenJS Presentation</dc:subject>
  <dc:creator>PptxGenJS</dc:creator>
  <cp:lastModifiedBy>Rishav Singh</cp:lastModifiedBy>
  <cp:revision>3</cp:revision>
  <dcterms:created xsi:type="dcterms:W3CDTF">2026-04-24T17:02:16Z</dcterms:created>
  <dcterms:modified xsi:type="dcterms:W3CDTF">2026-04-25T02:24:01Z</dcterms:modified>
</cp:coreProperties>
</file>